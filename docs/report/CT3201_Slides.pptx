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502920" y="91440"/>
            <a:ext cx="111858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Pyro Pete: Emergency Evacuation</a:t>
            </a:r>
          </a:p>
          <a:p>
            <a:r>
              <a:rPr sz="1200">
                <a:solidFill>
                  <a:srgbClr val="C9D7E4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Team: </a:t>
            </a:r>
            <a:r>
              <a:rPr sz="1600">
                <a:solidFill>
                  <a:srgbClr val="2B2B2B"/>
                </a:solidFill>
              </a:rPr>
              <a:t>Lee Tze Hian (U2423241F), Ong Chuan Hau (U2420725E), See Jun Wen (U2420456K)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Problem area: </a:t>
            </a:r>
            <a:r>
              <a:rPr sz="1600">
                <a:solidFill>
                  <a:srgbClr val="2B2B2B"/>
                </a:solidFill>
              </a:rPr>
              <a:t>Search / Intelligent agent / Decision-making under uncertainty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Can AI help us design AI — And can we recognise when AI is wrong?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1 - Problem Definition</a:t>
            </a:r>
          </a:p>
          <a:p>
            <a:r>
              <a:rPr sz="1200">
                <a:solidFill>
                  <a:srgbClr val="C9D7E4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Problem: </a:t>
            </a:r>
            <a:r>
              <a:rPr sz="1600">
                <a:solidFill>
                  <a:srgbClr val="2B2B2B"/>
                </a:solidFill>
              </a:rPr>
              <a:t>Occupants who don't know a burning building's layout must be found and led to an exit before fire, smoke and collapse cut the route off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User: </a:t>
            </a:r>
            <a:r>
              <a:rPr sz="1600">
                <a:solidFill>
                  <a:srgbClr val="2B2B2B"/>
                </a:solidFill>
              </a:rPr>
              <a:t>A rescuer inside the building (human or AI) — the system is a decision-support tool that proposes a route, not an autonomous replacement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Environment: </a:t>
            </a:r>
            <a:r>
              <a:rPr sz="1600">
                <a:solidFill>
                  <a:srgbClr val="2B2B2B"/>
                </a:solidFill>
              </a:rPr>
              <a:t>Multi-room floor plan as a grid graph; hazards evolve over time; only a small radius is visible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Desired outcome: </a:t>
            </a:r>
            <a:r>
              <a:rPr sz="1600">
                <a:solidFill>
                  <a:srgbClr val="2B2B2B"/>
                </a:solidFill>
              </a:rPr>
              <a:t>All reachable occupants out, then the rescuer out — fast, with minimal hazard exposure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Main decision: </a:t>
            </a:r>
            <a:r>
              <a:rPr sz="1600">
                <a:solidFill>
                  <a:srgbClr val="2B2B2B"/>
                </a:solidFill>
              </a:rPr>
              <a:t>Push deeper for another occupant, or take the ones I have and get out now?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Think first: </a:t>
            </a:r>
            <a:r>
              <a:rPr sz="1600">
                <a:solidFill>
                  <a:srgbClr val="2B2B2B"/>
                </a:solidFill>
              </a:rPr>
              <a:t>The team brainstormed and picked this problem before opening any AI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2 - Initial Human Solution</a:t>
            </a:r>
          </a:p>
          <a:p>
            <a:r>
              <a:rPr sz="1200">
                <a:solidFill>
                  <a:srgbClr val="C9D7E4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Agent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One autonomous rescue unit (robot or drone skin, player's choice; human plays the same role)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State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Current cell · occupant statuses · map seen so far · health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Move to one of the 4 adjacent floor cells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Goal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Lead every reachable occupant to the exit, then exit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1 / step + hazard surcharge (fire +8, smoke +2xdensity, panel +7.5, pending collapse +25)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Constraints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Walls &amp; debris impassable; door impassable until key; health drains in hazards, 0 = run over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Information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Partial - only cells/occupants within a vision radius; re-plan when reality differs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Initial plan: </a:t>
            </a:r>
            <a:r>
              <a:rPr sz="1600">
                <a:solidFill>
                  <a:srgbClr val="2B2B2B"/>
                </a:solidFill>
              </a:rPr>
              <a:t>BFS to the nearest occupant, escort out, repeat; treat fire as a wall — worked out once AI-assisted implementation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3 - AI-Assisted Exploration</a:t>
            </a:r>
          </a:p>
          <a:p>
            <a:r>
              <a:rPr sz="1200">
                <a:solidFill>
                  <a:srgbClr val="C9D7E4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Challenge BFS-with-fire-as-a-wall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BFS minimises tiles, not danger - it walks through fire to save a step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Treat hazards as weighted costs; use cost-aware search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Suggest alternative search strategies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Dijkstra / A* / Greedy and their trade-offs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Implement all four to compare on our own map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Point out assumptions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We assumed a full map of occupant locations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Add partial observability + frontier exploration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What could make it fail?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Locked door on the only corridor; a collapse could trap someone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Key sub-goal; connectivity-checked collapse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4 - AI Critique and Student Decisions</a:t>
            </a:r>
          </a:p>
          <a:p>
            <a:r>
              <a:rPr sz="1200">
                <a:solidFill>
                  <a:srgbClr val="C9D7E4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Use Greedy Best-First (fewer expansions)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Not cost-optimal on a weighted map; comparison harness shows BFS routes through 9 fire tiles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Use A* over the hazard cost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Ties Dijkstra for optimality, far fewer expansions; search theory + harness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Keep BFS for unweighted jobs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Fire-ring counting &amp; connectivity have no weights; unit tests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Generate NPC walk as AI video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Video model only did side-view, unstable; checked vs engine needs (see ai_critique.md)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8A5A12"/>
                          </a:solidFill>
                        </a:rPr>
                        <a:t>Perfect (single-path) maze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8A5A12"/>
                          </a:solidFill>
                        </a:rPr>
                        <a:t>Modify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8A5A12"/>
                          </a:solidFill>
                        </a:rPr>
                        <a:t>Every search returns the same route -&gt; braided the maze so routing has choices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Give the agent a full occupant map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Contradicts 'you don't know the building'; unbalances the human-vs-AI race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232946"/>
            <a:ext cx="4203330" cy="6771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 dirty="0">
                <a:solidFill>
                  <a:srgbClr val="FFFFFF"/>
                </a:solidFill>
              </a:rPr>
              <a:t>5 - Final AI Solution</a:t>
            </a:r>
          </a:p>
          <a:p>
            <a:r>
              <a:rPr sz="1200" dirty="0">
                <a:solidFill>
                  <a:srgbClr val="C9D7E4"/>
                </a:solidFill>
              </a:rPr>
              <a:t>Playable game + </a:t>
            </a:r>
            <a:r>
              <a:rPr lang="en-SG" sz="1200" dirty="0">
                <a:solidFill>
                  <a:srgbClr val="C9D7E4"/>
                </a:solidFill>
              </a:rPr>
              <a:t>A</a:t>
            </a:r>
            <a:r>
              <a:rPr sz="1200" dirty="0" err="1">
                <a:solidFill>
                  <a:srgbClr val="C9D7E4"/>
                </a:solidFill>
              </a:rPr>
              <a:t>utonomous</a:t>
            </a:r>
            <a:r>
              <a:rPr sz="1200" dirty="0">
                <a:solidFill>
                  <a:srgbClr val="C9D7E4"/>
                </a:solidFill>
              </a:rPr>
              <a:t>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Decision loop: </a:t>
            </a:r>
            <a:r>
              <a:rPr sz="1600">
                <a:solidFill>
                  <a:srgbClr val="2B2B2B"/>
                </a:solidFill>
              </a:rPr>
              <a:t>Sense (vision radius) -&gt; choose goal -&gt; hazard-weighted A* plan -&gt; step -&gt; re-plan every 0.25 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Goal selection: </a:t>
            </a:r>
            <a:r>
              <a:rPr sz="1600">
                <a:solidFill>
                  <a:srgbClr val="2B2B2B"/>
                </a:solidFill>
              </a:rPr>
              <a:t>Nearest KNOWN occupant by weighted distance; else nearest unexplored area; else the exit; key first if a door blocks the goal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Techniques (from the brief's list): </a:t>
            </a:r>
            <a:r>
              <a:rPr sz="1600">
                <a:solidFill>
                  <a:srgbClr val="2B2B2B"/>
                </a:solidFill>
              </a:rPr>
              <a:t>Search (BFS/Dijkstra/A*/Greedy) • Intelligent agent • Decision-making under uncertainty • Machine learning (optional second brain, imitates A*)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Systems: </a:t>
            </a:r>
            <a:r>
              <a:rPr sz="1600">
                <a:solidFill>
                  <a:srgbClr val="2B2B2B"/>
                </a:solidFill>
              </a:rPr>
              <a:t>Spreading fire + functional smoke • sparking panels • timed ceiling collapse • locked door + key • fog of war with memory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Score: </a:t>
            </a:r>
            <a:r>
              <a:rPr sz="1600">
                <a:solidFill>
                  <a:srgbClr val="2B2B2B"/>
                </a:solidFill>
              </a:rPr>
              <a:t>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649437" cy="2240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6</a:t>
            </a:r>
          </a:p>
        </p:txBody>
      </p:sp>
      <p:pic>
        <p:nvPicPr>
          <p:cNvPr id="12" name="Picture 11" descr="slide6_two_pan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160520"/>
            <a:ext cx="598932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6 - Evaluation and Testing</a:t>
            </a:r>
          </a:p>
          <a:p>
            <a:r>
              <a:rPr sz="1200">
                <a:solidFill>
                  <a:srgbClr val="C9D7E4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AI recommendation tested: </a:t>
            </a:r>
            <a:r>
              <a:rPr sz="1600">
                <a:solidFill>
                  <a:srgbClr val="2B2B2B"/>
                </a:solidFill>
              </a:rPr>
              <a:t>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BFS (unweighted)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101.8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9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Dijkstra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A*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43.8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42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Greedy best-first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43.8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42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2  (only when the straight line is safe)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Appropriate? </a:t>
            </a:r>
            <a:r>
              <a:rPr sz="1600">
                <a:solidFill>
                  <a:srgbClr val="2B2B2B"/>
                </a:solidFill>
              </a:rPr>
              <a:t>NO - 'fewer expansions' optimises the wrong thing. BFS/Greedy minimise tiles, not danger.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Evidence: </a:t>
            </a:r>
            <a:r>
              <a:rPr sz="1600">
                <a:solidFill>
                  <a:srgbClr val="2B2B2B"/>
                </a:solidFill>
              </a:rPr>
              <a:t>BFS route = 2.3x the cost through 9 burning tiles. A* = Dijkstra cost, fewer expansions -&gt; optimal AND fast.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Decision: </a:t>
            </a:r>
            <a:r>
              <a:rPr sz="1600">
                <a:solidFill>
                  <a:srgbClr val="2B2B2B"/>
                </a:solidFill>
              </a:rPr>
              <a:t>A* for routing; Greedy &amp; BFS rejected; BFS kept only for unweighted jobs.  Plus 12 unit tests.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7 - Responsible AI</a:t>
            </a:r>
          </a:p>
          <a:p>
            <a:r>
              <a:rPr sz="1200">
                <a:solidFill>
                  <a:srgbClr val="C9D7E4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Fairness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In-game the AI agent takes hazard damage &amp; has the same vision as the human - fair by construction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Bias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Goal selection is greedy nearest-first: no triage, no notion of who is most at risk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Transparency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The agent DRAWS its planned route + walked trail - you can see what it decided and why it changed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Privacy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 real occupant-locator needs live location data on people - sensitive, must be minimised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Security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The agent trusts its hazard map; a spoofed feed could steer it (and followers) into a hazard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Accountability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If it leads someone into a collapse - operator? developer? sensor vendor? needs an audit log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Human oversight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It's decision-support, not an autonomous replacement for firefighters - the right posture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Should it deploy? </a:t>
            </a:r>
            <a:r>
              <a:rPr sz="1600">
                <a:solidFill>
                  <a:srgbClr val="2B2B2B"/>
                </a:solidFill>
              </a:rPr>
              <a:t>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Critical Evaluation — What AI Got Wrong</a:t>
            </a:r>
          </a:p>
          <a:p>
            <a:r>
              <a:rPr sz="1200">
                <a:solidFill>
                  <a:srgbClr val="C9D7E4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What worked: </a:t>
            </a:r>
            <a:r>
              <a:rPr sz="1600">
                <a:solidFill>
                  <a:srgbClr val="2B2B2B"/>
                </a:solidFill>
              </a:rPr>
              <a:t>Side-view (left/right) walk clips, concept art, the whole implementation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What didn't: </a:t>
            </a:r>
            <a:r>
              <a:rPr sz="1600">
                <a:solidFill>
                  <a:srgbClr val="2B2B2B"/>
                </a:solidFill>
              </a:rPr>
              <a:t>No working “toward camera” or “away from camera” walk, across multiple re-prompts — that axis never worked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What AI got wrong: </a:t>
            </a:r>
            <a:r>
              <a:rPr sz="1600">
                <a:solidFill>
                  <a:srgbClr val="2B2B2B"/>
                </a:solidFill>
              </a:rPr>
              <a:t>It treated “looks like a walk” as done; it never delivered a complete, 4-direction, production-ready set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How verified: </a:t>
            </a:r>
            <a:r>
              <a:rPr sz="1600">
                <a:solidFill>
                  <a:srgbClr val="2B2B2B"/>
                </a:solidFill>
              </a:rPr>
              <a:t>Checked against the engine's own requirements — 4 directions, fixed sprite size, feet-anchored — it met exactly one of four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Corrected: </a:t>
            </a:r>
            <a:r>
              <a:rPr sz="1600">
                <a:solidFill>
                  <a:srgbClr val="2B2B2B"/>
                </a:solidFill>
              </a:rPr>
              <a:t>Assembled the 4-direction set from mixed sources (front/back from the character sheet, one side frame mirrored) + a procedural walk bob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This is the mandatory identified → verified → corrected example.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9</a:t>
            </a:r>
          </a:p>
        </p:txBody>
      </p:sp>
      <p:pic>
        <p:nvPicPr>
          <p:cNvPr id="10" name="Picture 9" descr="npc_fourd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343400"/>
            <a:ext cx="4074193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8 - Human-AI Reflection</a:t>
            </a:r>
          </a:p>
          <a:p>
            <a:r>
              <a:rPr sz="1200">
                <a:solidFill>
                  <a:srgbClr val="C9D7E4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8820E"/>
                </a:solidFill>
              </a:rPr>
              <a:t>▸  </a:t>
            </a:r>
            <a:r>
              <a:rPr sz="1300" b="1">
                <a:solidFill>
                  <a:srgbClr val="1F4E79"/>
                </a:solidFill>
              </a:rPr>
              <a:t>AI helped: </a:t>
            </a:r>
            <a:r>
              <a:rPr sz="1300">
                <a:solidFill>
                  <a:srgbClr val="2B2B2B"/>
                </a:solidFill>
              </a:rPr>
              <a:t>Explained tiles-vs-cost, listed search options, caught bad assumptions; later, built the whole UI rebuild fast (results, menus, pause, HUD, intro)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8820E"/>
                </a:solidFill>
              </a:rPr>
              <a:t>▸  </a:t>
            </a:r>
            <a:r>
              <a:rPr sz="1300" b="1">
                <a:solidFill>
                  <a:srgbClr val="1F4E79"/>
                </a:solidFill>
              </a:rPr>
              <a:t>AI got wrong: </a:t>
            </a:r>
            <a:r>
              <a:rPr sz="1300">
                <a:solidFill>
                  <a:srgbClr val="2B2B2B"/>
                </a:solidFill>
              </a:rPr>
              <a:t>The video model couldn't animate toward/away from camera; recommended Greedy without weighing safe vs fast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8820E"/>
                </a:solidFill>
              </a:rPr>
              <a:t>▸  </a:t>
            </a:r>
            <a:r>
              <a:rPr sz="1300" b="1">
                <a:solidFill>
                  <a:srgbClr val="1F4E79"/>
                </a:solidFill>
              </a:rPr>
              <a:t>Accepted: </a:t>
            </a:r>
            <a:r>
              <a:rPr sz="1300">
                <a:solidFill>
                  <a:srgbClr val="2B2B2B"/>
                </a:solidFill>
              </a:rPr>
              <a:t>Weighted costs, A*, partial observability, key sub-goal, connectivity-checked collapse, braided maze; later, the UI rebuild — reviewed screen by screen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8820E"/>
                </a:solidFill>
              </a:rPr>
              <a:t>▸  </a:t>
            </a:r>
            <a:r>
              <a:rPr sz="1300" b="1">
                <a:solidFill>
                  <a:srgbClr val="1F4E79"/>
                </a:solidFill>
              </a:rPr>
              <a:t>Rejected: </a:t>
            </a:r>
            <a:r>
              <a:rPr sz="1300">
                <a:solidFill>
                  <a:srgbClr val="2B2B2B"/>
                </a:solidFill>
              </a:rPr>
              <a:t>Greedy &amp; BFS for routing, full occupant map, AI-video for toward/away; later, AI opening PRs or merging into master unprompted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8820E"/>
                </a:solidFill>
              </a:rPr>
              <a:t>▸  </a:t>
            </a:r>
            <a:r>
              <a:rPr sz="1300" b="1">
                <a:solidFill>
                  <a:srgbClr val="1F4E79"/>
                </a:solidFill>
              </a:rPr>
              <a:t>Verified via: </a:t>
            </a:r>
            <a:r>
              <a:rPr sz="1300">
                <a:solidFill>
                  <a:srgbClr val="2B2B2B"/>
                </a:solidFill>
              </a:rPr>
              <a:t>Search theory, a purpose-built harness, unit tests, assets vs engine requirements; later, real screenshots, the real test suite, the real game run end-to-end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8820E"/>
                </a:solidFill>
              </a:rPr>
              <a:t>▸  </a:t>
            </a:r>
            <a:r>
              <a:rPr sz="1300" b="1">
                <a:solidFill>
                  <a:srgbClr val="1F4E79"/>
                </a:solidFill>
              </a:rPr>
              <a:t>Human judgement was necessary for: </a:t>
            </a:r>
            <a:r>
              <a:rPr sz="1300">
                <a:solidFill>
                  <a:srgbClr val="2B2B2B"/>
                </a:solidFill>
              </a:rPr>
              <a:t>Scope, tuning, seeing the AI failure was narrow, the Responsible-AI stance, judging the UI by eye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8820E"/>
                </a:solidFill>
              </a:rPr>
              <a:t>▸  </a:t>
            </a:r>
            <a:r>
              <a:rPr sz="1300" b="1">
                <a:solidFill>
                  <a:srgbClr val="1F4E79"/>
                </a:solidFill>
              </a:rPr>
              <a:t>If we'd blindly followed AI: </a:t>
            </a:r>
            <a:r>
              <a:rPr sz="1300">
                <a:solidFill>
                  <a:srgbClr val="2B2B2B"/>
                </a:solidFill>
              </a:rPr>
              <a:t>Agent walks through fire (looks like bad balance, not a wrong algorithm); AI colliding with a teammate's work on master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8820E"/>
                </a:solidFill>
              </a:rPr>
              <a:t>▸  </a:t>
            </a:r>
            <a:r>
              <a:rPr sz="1300" b="1">
                <a:solidFill>
                  <a:srgbClr val="1F4E79"/>
                </a:solidFill>
              </a:rPr>
              <a:t>Learned: </a:t>
            </a:r>
            <a:r>
              <a:rPr sz="1300">
                <a:solidFill>
                  <a:srgbClr val="2B2B2B"/>
                </a:solidFill>
              </a:rPr>
              <a:t>A technically-true claim (“fewer expansions”) can still be wrong for the problem; a git commit proves whose account, not who typed the code — verify evidence, not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Designed the agent human-first, then used AI to challenge and broaden 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The AI's clearest failure — directional NPC animation — was identified, verified, and corrected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widened the option space and sped the work; the objective, the verification and every final decision were 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1811</Words>
  <Application>Microsoft Office PowerPoint</Application>
  <PresentationFormat>Widescreen</PresentationFormat>
  <Paragraphs>181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#ONG CHUAN HAU#</cp:lastModifiedBy>
  <cp:revision>3</cp:revision>
  <dcterms:created xsi:type="dcterms:W3CDTF">2013-01-27T09:14:16Z</dcterms:created>
  <dcterms:modified xsi:type="dcterms:W3CDTF">2026-10-01T16:57:07Z</dcterms:modified>
  <cp:category/>
</cp:coreProperties>
</file>