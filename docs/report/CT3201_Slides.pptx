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91440"/>
            <a:ext cx="111858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Pyro Pete: Emergency Evacuation</a:t>
            </a:r>
          </a:p>
          <a:p>
            <a:r>
              <a:rPr sz="1200">
                <a:solidFill>
                  <a:srgbClr val="C9D7E4"/>
                </a:solidFill>
              </a:rPr>
              <a:t>CT3201 Mini Project  ·  An evacuation-routing AI agent  ·  Learn with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26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Team: </a:t>
            </a:r>
            <a:r>
              <a:rPr sz="1600">
                <a:solidFill>
                  <a:srgbClr val="2B2B2B"/>
                </a:solidFill>
              </a:rPr>
              <a:t>Lee Tze Hian (U2423241F), Ong Chuan Hau (U2420725E), See Jun Wen (U2420456K)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 area: </a:t>
            </a:r>
            <a:r>
              <a:rPr sz="1600">
                <a:solidFill>
                  <a:srgbClr val="2B2B2B"/>
                </a:solidFill>
              </a:rPr>
              <a:t>search / intelligent agent / decision-making under uncertainty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Can AI help us design AI — and can we recognise when AI is wrong?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1 - Problem Definition</a:t>
            </a:r>
          </a:p>
          <a:p>
            <a:r>
              <a:rPr sz="1200">
                <a:solidFill>
                  <a:srgbClr val="C9D7E4"/>
                </a:solidFill>
              </a:rPr>
              <a:t>Phase 1, Stage 1 - defined human-first, before using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Problem: </a:t>
            </a:r>
            <a:r>
              <a:rPr sz="1600">
                <a:solidFill>
                  <a:srgbClr val="2B2B2B"/>
                </a:solidFill>
              </a:rPr>
              <a:t>occupants who don't know a burning building's layout must be found and led to an exit before fire, smoke and collapse cut the route off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User: </a:t>
            </a:r>
            <a:r>
              <a:rPr sz="1600">
                <a:solidFill>
                  <a:srgbClr val="2B2B2B"/>
                </a:solidFill>
              </a:rPr>
              <a:t>a rescuer inside the building (human or AI) — the system is a decision-support tool that proposes a route, not an autonomous replacement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Environment: </a:t>
            </a:r>
            <a:r>
              <a:rPr sz="1600">
                <a:solidFill>
                  <a:srgbClr val="2B2B2B"/>
                </a:solidFill>
              </a:rPr>
              <a:t>multi-room floor plan as a grid graph; hazards evolve over time; only a small radius is visible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Desired outcome: </a:t>
            </a:r>
            <a:r>
              <a:rPr sz="1600">
                <a:solidFill>
                  <a:srgbClr val="2B2B2B"/>
                </a:solidFill>
              </a:rPr>
              <a:t>all reachable occupants out, then the rescuer out — fast, with minimal hazard exposure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Main decision: </a:t>
            </a:r>
            <a:r>
              <a:rPr sz="1600">
                <a:solidFill>
                  <a:srgbClr val="2B2B2B"/>
                </a:solidFill>
              </a:rPr>
              <a:t>push deeper for another occupant, or take the ones I have and get out now?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Think first: </a:t>
            </a:r>
            <a:r>
              <a:rPr sz="1600">
                <a:solidFill>
                  <a:srgbClr val="2B2B2B"/>
                </a:solidFill>
              </a:rPr>
              <a:t>the team brainstormed and picked this problem before opening any AI tool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2 - Initial Human Solution</a:t>
            </a:r>
          </a:p>
          <a:p>
            <a:r>
              <a:rPr sz="1200">
                <a:solidFill>
                  <a:srgbClr val="C9D7E4"/>
                </a:solidFill>
              </a:rPr>
              <a:t>Phase 1, Stage 2 - the AI formulation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Element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Our project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Agent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one autonomous rescue unit (robot or drone skin, player's choice; human plays the same role)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current cell · occupant statuses · map seen so far · health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move to one of the 4 adjacent floor cells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Goal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lead every reachable occupant to the exit, then exit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1 / step + hazard surcharge (fire +8, smoke +2xdensity, panel +7.5, pending collapse +25)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Constraints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walls &amp; debris impassable; door impassable until key; health drains in hazards, 0 = run over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Information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PARTIAL - only cells/occupants within a vision radius; re-plan when reality differs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2120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Initial plan: </a:t>
            </a:r>
            <a:r>
              <a:rPr sz="1600">
                <a:solidFill>
                  <a:srgbClr val="2B2B2B"/>
                </a:solidFill>
              </a:rPr>
              <a:t>BFS to the nearest occupant, escort out, repeat; treat fire as a wall — worked out once AI-assisted implementation started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3 - AI-Assisted Exploration</a:t>
            </a:r>
          </a:p>
          <a:p>
            <a:r>
              <a:rPr sz="1200">
                <a:solidFill>
                  <a:srgbClr val="C9D7E4"/>
                </a:solidFill>
              </a:rPr>
              <a:t>Phase 2, Stage 3 - used AI to challenge, not to design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We asked AI to...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it surfaced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What we took from it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challenge BFS-with-fire-as-a-wall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BFS minimises tiles, not danger - it walks through fire to save a 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treat hazards as weighted costs; use cost-aware search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suggest alternative search strategies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Dijkstra / A* / Greedy and their trade-offs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implement all four to compare on our own map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point out assumptions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we assumed a full map of occupant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add partial observability + frontier exploration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what could make it fail?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locked door on the only corridor; a collapse could trap someone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key sub-goal; connectivity-checked collapse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4 - AI Critique and Student Decisions</a:t>
            </a:r>
          </a:p>
          <a:p>
            <a:r>
              <a:rPr sz="1200">
                <a:solidFill>
                  <a:srgbClr val="C9D7E4"/>
                </a:solidFill>
              </a:rPr>
              <a:t>Phase 3 &amp; 4 - Accept / Modify / Reject, each verified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AI suggestion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/ how verified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Use Greedy Best-First (fewer expansions)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not cost-optimal on a weighted map; comparison harness shows BFS routes through 9 fire tiles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Use A* over the hazard cost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ties Dijkstra for optimality, far fewer expansions; search theory + harness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Keep BFS for unweighted jobs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Accept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fire-ring counting &amp; connectivity have no weights; unit tests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Generate NPC walk as AI video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video model only did side-view, unstable; checked vs engine needs (see ai_critique.md)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Perfect (single-path) maze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Modify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8A5A12"/>
                          </a:solidFill>
                        </a:rPr>
                        <a:t>every search returns the same route -&gt; braided the maze so routing has choices</a:t>
                      </a:r>
                    </a:p>
                  </a:txBody>
                  <a:tcPr>
                    <a:solidFill>
                      <a:srgbClr val="FAF1D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Give the agent a full occupant map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Reject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contradicts 'you don't know the building'; unbalances the human-vs-AI race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5 - Final AI Solution</a:t>
            </a:r>
          </a:p>
          <a:p>
            <a:r>
              <a:rPr sz="1200">
                <a:solidFill>
                  <a:srgbClr val="C9D7E4"/>
                </a:solidFill>
              </a:rPr>
              <a:t>playable game + autonomous rescue agent (robot or drone skin)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 loop: </a:t>
            </a:r>
            <a:r>
              <a:rPr sz="1600">
                <a:solidFill>
                  <a:srgbClr val="2B2B2B"/>
                </a:solidFill>
              </a:rPr>
              <a:t>sense (vision radius) -&gt; choose goal -&gt; hazard-weighted A* plan -&gt; step -&gt; re-plan every 0.25 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Goal selection: </a:t>
            </a:r>
            <a:r>
              <a:rPr sz="1600">
                <a:solidFill>
                  <a:srgbClr val="2B2B2B"/>
                </a:solidFill>
              </a:rPr>
              <a:t>nearest KNOWN occupant by weighted distance; else nearest unexplored area; else the exit; key first if a door blocks the goal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Techniques (from the brief's list): Search (BFS/Dijkstra/A*/Greedy) • Intelligent agent • Decision-making under uncertainty • Machine learning (optional second brain, imitates A*)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Systems: </a:t>
            </a:r>
            <a:r>
              <a:rPr sz="1600">
                <a:solidFill>
                  <a:srgbClr val="2B2B2B"/>
                </a:solidFill>
              </a:rPr>
              <a:t>spreading fire + functional smoke • sparking panels • timed ceiling collapse • locked door + key • fog of war with memory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Score: </a:t>
            </a:r>
            <a:r>
              <a:rPr sz="1600">
                <a:solidFill>
                  <a:srgbClr val="2B2B2B"/>
                </a:solidFill>
              </a:rPr>
              <a:t>+100 per occupant led out • +50 for exiting • speed bonus • damage penalty</a:t>
            </a:r>
          </a:p>
        </p:txBody>
      </p:sp>
      <p:pic>
        <p:nvPicPr>
          <p:cNvPr id="4" name="Picture 3" descr="fig_decisio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5593" y="4160520"/>
            <a:ext cx="1649437" cy="2240280"/>
          </a:xfrm>
          <a:prstGeom prst="rect">
            <a:avLst/>
          </a:prstGeom>
        </p:spPr>
      </p:pic>
      <p:pic>
        <p:nvPicPr>
          <p:cNvPr id="5" name="Picture 4" descr="ui_sheet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201" y="4160520"/>
            <a:ext cx="3360420" cy="2240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6 - Evaluation and Testing</a:t>
            </a:r>
          </a:p>
          <a:p>
            <a:r>
              <a:rPr sz="1200">
                <a:solidFill>
                  <a:srgbClr val="C9D7E4"/>
                </a:solidFill>
              </a:rPr>
              <a:t>Phase 6, Stage 7 - testing an AI recommendation with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AI recommendation tested: </a:t>
            </a:r>
            <a:r>
              <a:rPr sz="1600">
                <a:solidFill>
                  <a:srgbClr val="2B2B2B"/>
                </a:solidFill>
              </a:rPr>
              <a:t>"Use Greedy Best-First - fewer node expansions, so it's faster."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10312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strategy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path cost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steps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hazard tiles crossed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BFS (unweighted)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101.8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Dijkstra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A*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6B3D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4F3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Greedy best-first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43.8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42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A32B1F"/>
                          </a:solidFill>
                        </a:rPr>
                        <a:t>2  (only when the straight line is safe)</a:t>
                      </a:r>
                    </a:p>
                  </a:txBody>
                  <a:tcPr>
                    <a:solidFill>
                      <a:srgbClr val="FBE7E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Appropriate? </a:t>
            </a:r>
            <a:r>
              <a:rPr sz="1600">
                <a:solidFill>
                  <a:srgbClr val="2B2B2B"/>
                </a:solidFill>
              </a:rPr>
              <a:t>NO - 'fewer expansions' optimises the wrong thing. BFS/Greedy minimise tiles, not danger.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Evidence: </a:t>
            </a:r>
            <a:r>
              <a:rPr sz="1600">
                <a:solidFill>
                  <a:srgbClr val="2B2B2B"/>
                </a:solidFill>
              </a:rPr>
              <a:t>BFS route = 2.3x the cost through 9 burning tiles. A* = Dijkstra cost, fewer expansions -&gt; optimal AND fast.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Decision: </a:t>
            </a:r>
            <a:r>
              <a:rPr sz="1600">
                <a:solidFill>
                  <a:srgbClr val="2B2B2B"/>
                </a:solidFill>
              </a:rPr>
              <a:t>A* for routing; Greedy &amp; BFS rejected; BFS kept only for unweighted jobs.  Plus 12 unit tests.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7 - Responsible AI</a:t>
            </a:r>
          </a:p>
          <a:p>
            <a:r>
              <a:rPr sz="1200">
                <a:solidFill>
                  <a:srgbClr val="C9D7E4"/>
                </a:solidFill>
              </a:rPr>
              <a:t>Phase 7, Stage 8 - should this system be deployed?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Assessment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in-game the AI agent takes hazard damage &amp; has the same vision as the human - fair by construction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Bias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goal selection is greedy nearest-first: no triage, no notion of who is most at risk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DRAWS its planned route + walked trail - you can see what it decided and why it changed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Privacy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a real occupant-locator needs live location data on people - sensitive, must be minimised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the agent trusts its hazard map; a spoofed feed could steer it (and followers) into a hazard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if it leads someone into a collapse - operator? developer? sensor vendor? needs an audit log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/>
                        <a:t>Human oversight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/>
                        <a:t>it's decision-support, not an autonomous replacement for firefighters - the right posture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Should it deploy? </a:t>
            </a:r>
            <a:r>
              <a:rPr sz="1600">
                <a:solidFill>
                  <a:srgbClr val="2B2B2B"/>
                </a:solidFill>
              </a:rPr>
              <a:t>Not as an autonomous router (no triage, trusts its hazard map blindly) — yes as a transparent aid a trained rescuer can override, if the sensor feed's integrity is assured and triage replaces greedy nearest-first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Critical Evaluation — What AI Got Wrong</a:t>
            </a:r>
          </a:p>
          <a:p>
            <a:r>
              <a:rPr sz="1200">
                <a:solidFill>
                  <a:srgbClr val="C9D7E4"/>
                </a:solidFill>
              </a:rPr>
              <a:t>Compulsory slide — what worked, what didn't, how it was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worked: </a:t>
            </a:r>
            <a:r>
              <a:rPr sz="1600">
                <a:solidFill>
                  <a:srgbClr val="2B2B2B"/>
                </a:solidFill>
              </a:rPr>
              <a:t>side-view (left/right) walk clips, concept art, the whole implementation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didn't: </a:t>
            </a:r>
            <a:r>
              <a:rPr sz="1600">
                <a:solidFill>
                  <a:srgbClr val="2B2B2B"/>
                </a:solidFill>
              </a:rPr>
              <a:t>no working “toward camera” or “away from camera” walk, across multiple re-prompts — that axis never worked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What AI got wrong: </a:t>
            </a:r>
            <a:r>
              <a:rPr sz="1600">
                <a:solidFill>
                  <a:srgbClr val="2B2B2B"/>
                </a:solidFill>
              </a:rPr>
              <a:t>it treated “looks like a walk” as done; it never delivered a complete, 4-direction, production-ready set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How verified: </a:t>
            </a:r>
            <a:r>
              <a:rPr sz="1600">
                <a:solidFill>
                  <a:srgbClr val="2B2B2B"/>
                </a:solidFill>
              </a:rPr>
              <a:t>checked against the engine's own requirements — 4 directions, fixed sprite size, feet-anchored — it met exactly one of four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b="1" sz="1600">
                <a:solidFill>
                  <a:srgbClr val="1F4E79"/>
                </a:solidFill>
              </a:rPr>
              <a:t>Corrected: </a:t>
            </a:r>
            <a:r>
              <a:rPr sz="1600">
                <a:solidFill>
                  <a:srgbClr val="2B2B2B"/>
                </a:solidFill>
              </a:rPr>
              <a:t>assembled the 4-direction set from mixed sources (front/back from the character sheet, one side frame mirrored) + a procedural walk bob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This is the mandatory identified → verified → corrected example.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9</a:t>
            </a:r>
          </a:p>
        </p:txBody>
      </p:sp>
      <p:pic>
        <p:nvPicPr>
          <p:cNvPr id="10" name="Picture 9" descr="npc_fourd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4343400"/>
            <a:ext cx="4074193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8 - Human-AI Reflection</a:t>
            </a:r>
          </a:p>
          <a:p>
            <a:r>
              <a:rPr sz="1200">
                <a:solidFill>
                  <a:srgbClr val="C9D7E4"/>
                </a:solidFill>
              </a:rPr>
              <a:t>Phase 8, Stage 9 - MANDATORY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helped: </a:t>
            </a:r>
            <a:r>
              <a:rPr sz="1300">
                <a:solidFill>
                  <a:srgbClr val="2B2B2B"/>
                </a:solidFill>
              </a:rPr>
              <a:t>explained tiles-vs-cost, listed search options, caught bad assumptions; later, built the whole UI rebuild fast (results, menus, pause, HUD, intro)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AI got wrong: </a:t>
            </a:r>
            <a:r>
              <a:rPr sz="1300">
                <a:solidFill>
                  <a:srgbClr val="2B2B2B"/>
                </a:solidFill>
              </a:rPr>
              <a:t>the video model couldn't animate toward/away from camera; recommended Greedy without weighing safe vs fast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Accepted: </a:t>
            </a:r>
            <a:r>
              <a:rPr sz="1300">
                <a:solidFill>
                  <a:srgbClr val="2B2B2B"/>
                </a:solidFill>
              </a:rPr>
              <a:t>weighted costs, A*, partial observability, key sub-goal, connectivity-checked collapse, braided maze; later, the UI rebuild — reviewed screen by screen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Rejected: </a:t>
            </a:r>
            <a:r>
              <a:rPr sz="1300">
                <a:solidFill>
                  <a:srgbClr val="2B2B2B"/>
                </a:solidFill>
              </a:rPr>
              <a:t>Greedy &amp; BFS for routing, full occupant map, AI-video for toward/away; later, AI opening PRs or merging into master unprompted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Verified via: </a:t>
            </a:r>
            <a:r>
              <a:rPr sz="1300">
                <a:solidFill>
                  <a:srgbClr val="2B2B2B"/>
                </a:solidFill>
              </a:rPr>
              <a:t>search theory, a purpose-built harness, unit tests, assets vs engine requirements; later, real screenshots, the real test suite, the real game run end-to-end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Human judgement was necessary for: </a:t>
            </a:r>
            <a:r>
              <a:rPr sz="1300">
                <a:solidFill>
                  <a:srgbClr val="2B2B2B"/>
                </a:solidFill>
              </a:rPr>
              <a:t>scope, tuning, seeing the AI failure was narrow, the Responsible-AI stance, judging the UI by eye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If we'd blindly followed AI: </a:t>
            </a:r>
            <a:r>
              <a:rPr sz="1300">
                <a:solidFill>
                  <a:srgbClr val="2B2B2B"/>
                </a:solidFill>
              </a:rPr>
              <a:t>agent walks through fire (looks like bad balance, not a wrong algorithm); AI colliding with a teammate's work on master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b="1" sz="1300">
                <a:solidFill>
                  <a:srgbClr val="C8820E"/>
                </a:solidFill>
              </a:rPr>
              <a:t>▸  </a:t>
            </a:r>
            <a:r>
              <a:rPr b="1" sz="1300">
                <a:solidFill>
                  <a:srgbClr val="1F4E79"/>
                </a:solidFill>
              </a:rPr>
              <a:t>Learned: </a:t>
            </a:r>
            <a:r>
              <a:rPr sz="1300">
                <a:solidFill>
                  <a:srgbClr val="2B2B2B"/>
                </a:solidFill>
              </a:rPr>
              <a:t>a technically-true claim (“fewer expansions”) can still be wrong for the problem; a git commit proves whose account, not who typed the code — verify evidence, not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1234440" y="91440"/>
            <a:ext cx="10728655" cy="9601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9 -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Designed the agent human-first, then used AI to challenge and broaden 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moved us from unweighted BFS to a hazard-weighted A* agent that plans under partial information and re-plans as the building changes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Tested an AI recommendation (Greedy) against a purpose-built comparison — found it inappropriate, rejected it with evidence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The AI's clearest failure — directional NPC animation — was identified, verified, and corrected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An optional learned-AI brain (imitating A*) was added and evaluated: it roughly matches A* on familiar stages and trails it on new ones — A* stays the default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b="1" sz="1600">
                <a:solidFill>
                  <a:srgbClr val="C8820E"/>
                </a:solidFill>
              </a:rPr>
              <a:t>▸  </a:t>
            </a:r>
            <a:r>
              <a:rPr sz="1600">
                <a:solidFill>
                  <a:srgbClr val="2B2B2B"/>
                </a:solidFill>
              </a:rPr>
              <a:t>AI widened the option space and sped the work; the objective, the verification and every final decision were ours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E0A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2316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C882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600" b="1">
                <a:solidFill>
                  <a:srgbClr val="1F4E79"/>
                </a:solidFill>
                <a:latin typeface="Calibr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510528"/>
            <a:ext cx="1127729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65392"/>
            <a:ext cx="5486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900">
                <a:solidFill>
                  <a:srgbClr val="9A9A9A"/>
                </a:solidFill>
              </a:rPr>
              <a:t>Pyro Pete: Emergency Evacuation  ·  CT3201 Mini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565392"/>
            <a:ext cx="91440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 algn="r"/>
            <a:r>
              <a:rPr sz="900">
                <a:solidFill>
                  <a:srgbClr val="9A9A9A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